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First slide requested to follow the hackathon reference-image style provided by the user.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660196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ExlService Holdings, Inc. All rights reserved.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73968" y="6428232"/>
            <a:ext cx="594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d29691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2B">
              <a:alpha val="87000"/>
            </a:srgbClr>
          </a:solidFill>
          <a:ln w="12700">
            <a:solidFill>
              <a:srgbClr val="001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75488" y="438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75488" y="114300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502920" y="2011680"/>
            <a:ext cx="822960" cy="0"/>
          </a:xfrm>
          <a:prstGeom prst="line">
            <a:avLst/>
          </a:prstGeom>
          <a:noFill/>
          <a:ln w="279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BOLD SOLUTIONS.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2587752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REAL-WORLD IMPACT.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58368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02336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1453896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029968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773936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2825496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328416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072384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4123944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892040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636008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566928" y="39776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name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920240" y="4078224"/>
            <a:ext cx="3401568" cy="0"/>
          </a:xfrm>
          <a:prstGeom prst="line">
            <a:avLst/>
          </a:prstGeom>
          <a:noFill/>
          <a:ln w="1143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1975104" y="3941064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Dragon’s Den 2026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566928" y="449884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name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920240" y="4599432"/>
            <a:ext cx="3401568" cy="0"/>
          </a:xfrm>
          <a:prstGeom prst="line">
            <a:avLst/>
          </a:prstGeom>
          <a:noFill/>
          <a:ln w="1143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1975104" y="4462272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Churn Prediction &amp; Retention Platform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566928" y="504748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1481328" y="5138928"/>
            <a:ext cx="233172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1527048" y="5010912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MINDS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566928" y="553212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691640" y="5623560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Shape 29"/>
          <p:cNvSpPr/>
          <p:nvPr/>
        </p:nvSpPr>
        <p:spPr>
          <a:xfrm>
            <a:off x="1700784" y="5907024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Shape 30"/>
          <p:cNvSpPr/>
          <p:nvPr/>
        </p:nvSpPr>
        <p:spPr>
          <a:xfrm>
            <a:off x="1691640" y="6190488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Text 31"/>
          <p:cNvSpPr/>
          <p:nvPr/>
        </p:nvSpPr>
        <p:spPr>
          <a:xfrm>
            <a:off x="1737360" y="5495544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chemeClr val="bg1"/>
                </a:solidFill>
              </a:rPr>
              <a:t>Sachin Sukumar Jain</a:t>
            </a:r>
          </a:p>
        </p:txBody>
      </p:sp>
      <p:sp>
        <p:nvSpPr>
          <p:cNvPr id="35" name="Text 32"/>
          <p:cNvSpPr/>
          <p:nvPr/>
        </p:nvSpPr>
        <p:spPr>
          <a:xfrm>
            <a:off x="7973568" y="5522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Idea. Build. Scale.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8549640" y="5879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TOMORROW,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942832" y="61264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TOGETHER.</a:t>
            </a:r>
            <a:endParaRPr lang="en-US" sz="1600" dirty="0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6E680833-8E3E-7D61-18B7-CFBF5445A6A3}"/>
              </a:ext>
            </a:extLst>
          </p:cNvPr>
          <p:cNvSpPr/>
          <p:nvPr/>
        </p:nvSpPr>
        <p:spPr>
          <a:xfrm>
            <a:off x="1747520" y="5769864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chemeClr val="bg1"/>
                </a:solidFill>
              </a:rPr>
              <a:t>Anusha Vennu</a:t>
            </a:r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5921C650-5C47-4C2E-FFC2-2E8912167B21}"/>
              </a:ext>
            </a:extLst>
          </p:cNvPr>
          <p:cNvSpPr/>
          <p:nvPr/>
        </p:nvSpPr>
        <p:spPr>
          <a:xfrm>
            <a:off x="1747520" y="6054344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 err="1">
                <a:solidFill>
                  <a:schemeClr val="bg1"/>
                </a:solidFill>
              </a:rPr>
              <a:t>Awanish</a:t>
            </a:r>
            <a:r>
              <a:rPr lang="en-US" sz="760" dirty="0">
                <a:solidFill>
                  <a:schemeClr val="bg1"/>
                </a:solidFill>
              </a:rPr>
              <a:t> Dubey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Customer Focus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34390" y="1295876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Problem &amp; Customer Focus</a:t>
            </a:r>
          </a:p>
          <a:p>
            <a:endParaRPr/>
          </a:p>
          <a:p>
            <a:r>
              <a:t>Business Problem</a:t>
            </a:r>
          </a:p>
          <a:p>
            <a:r>
              <a:t>Fashion brands lose 20-40% customers annually due to inability to identify churn risks early.</a:t>
            </a:r>
          </a:p>
          <a:p>
            <a:endParaRPr/>
          </a:p>
          <a:p>
            <a:r>
              <a:t>Customer Pain Points</a:t>
            </a:r>
          </a:p>
          <a:p>
            <a:r>
              <a:t>• High acquisition costs</a:t>
            </a:r>
          </a:p>
          <a:p>
            <a:r>
              <a:t>• Low repeat purchases</a:t>
            </a:r>
          </a:p>
          <a:p>
            <a:r>
              <a:t>• Ineffective retention campaigns</a:t>
            </a:r>
          </a:p>
          <a:p>
            <a:r>
              <a:t>• Revenue leakage from customer attrition</a:t>
            </a:r>
          </a:p>
          <a:p>
            <a:endParaRPr/>
          </a:p>
          <a:p>
            <a:r>
              <a:t>Opportunity: Retaining customers is significantly cheaper than acquiring new 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Solution &amp; Innovation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34390" y="1295876"/>
            <a:ext cx="67652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The AI Solution &amp; Innovation</a:t>
            </a:r>
          </a:p>
          <a:p>
            <a:endParaRPr dirty="0"/>
          </a:p>
          <a:p>
            <a:r>
              <a:rPr dirty="0"/>
              <a:t>AI-Powered Retention Intelligence Platform</a:t>
            </a:r>
          </a:p>
          <a:p>
            <a:r>
              <a:rPr dirty="0"/>
              <a:t>1. Collect customer behavioral, transaction</a:t>
            </a:r>
            <a:r>
              <a:rPr lang="en-US" dirty="0"/>
              <a:t>al</a:t>
            </a:r>
            <a:r>
              <a:rPr dirty="0"/>
              <a:t> data</a:t>
            </a:r>
          </a:p>
          <a:p>
            <a:r>
              <a:rPr dirty="0"/>
              <a:t>2. Predict churn probability using ML models</a:t>
            </a:r>
          </a:p>
          <a:p>
            <a:r>
              <a:rPr dirty="0"/>
              <a:t>3. Segment customers by risk level and CLV</a:t>
            </a:r>
          </a:p>
          <a:p>
            <a:r>
              <a:rPr dirty="0"/>
              <a:t>4. Agentic AI explains churn drivers</a:t>
            </a:r>
          </a:p>
          <a:p>
            <a:r>
              <a:rPr dirty="0"/>
              <a:t>5. Recommend next-best retention actions</a:t>
            </a:r>
          </a:p>
          <a:p>
            <a:r>
              <a:rPr dirty="0"/>
              <a:t>6. Trigger personalized campaigns</a:t>
            </a:r>
          </a:p>
          <a:p>
            <a:endParaRPr dirty="0"/>
          </a:p>
          <a:p>
            <a:r>
              <a:rPr dirty="0"/>
              <a:t>Outcome: Increased retention, CLV and marketing ROI.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Out From Competitors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5D940B18-426E-4527-8063-19DA82FCC888}"/>
              </a:ext>
            </a:extLst>
          </p:cNvPr>
          <p:cNvSpPr/>
          <p:nvPr/>
        </p:nvSpPr>
        <p:spPr>
          <a:xfrm>
            <a:off x="7708392" y="1037844"/>
            <a:ext cx="1088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lens</a:t>
            </a:r>
            <a:endParaRPr lang="en-US" sz="750" dirty="0"/>
          </a:p>
        </p:txBody>
      </p:sp>
      <p:sp>
        <p:nvSpPr>
          <p:cNvPr id="30" name="TextBox 29"/>
          <p:cNvSpPr txBox="1"/>
          <p:nvPr/>
        </p:nvSpPr>
        <p:spPr>
          <a:xfrm>
            <a:off x="838200" y="1318768"/>
            <a:ext cx="5969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Standing Out From Competitors</a:t>
            </a:r>
          </a:p>
          <a:p>
            <a:endParaRPr dirty="0"/>
          </a:p>
          <a:p>
            <a:r>
              <a:rPr dirty="0"/>
              <a:t>What Makes Us Different?</a:t>
            </a:r>
          </a:p>
          <a:p>
            <a:r>
              <a:rPr dirty="0"/>
              <a:t>• Predictive + Generative AI in one platform</a:t>
            </a:r>
          </a:p>
          <a:p>
            <a:r>
              <a:rPr dirty="0"/>
              <a:t>• Explainable churn predictions, not black-box scores</a:t>
            </a:r>
          </a:p>
          <a:p>
            <a:r>
              <a:rPr dirty="0"/>
              <a:t>• Automated retention recommendations</a:t>
            </a:r>
          </a:p>
          <a:p>
            <a:r>
              <a:rPr dirty="0"/>
              <a:t>• Industry-agnostic architecture</a:t>
            </a:r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dirty="0"/>
              <a:t>Competitive Advantage</a:t>
            </a:r>
          </a:p>
          <a:p>
            <a:r>
              <a:rPr dirty="0"/>
              <a:t>Faster insights, lower analyst effort, higher retention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Business Growth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9F9CF1C7-31B5-696E-43EB-CBFCCA293B5E}"/>
              </a:ext>
            </a:extLst>
          </p:cNvPr>
          <p:cNvSpPr/>
          <p:nvPr/>
        </p:nvSpPr>
        <p:spPr>
          <a:xfrm>
            <a:off x="7708392" y="1056132"/>
            <a:ext cx="9052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map</a:t>
            </a:r>
            <a:endParaRPr lang="en-US" sz="750" dirty="0"/>
          </a:p>
        </p:txBody>
      </p:sp>
      <p:sp>
        <p:nvSpPr>
          <p:cNvPr id="40" name="TextBox 39"/>
          <p:cNvSpPr txBox="1"/>
          <p:nvPr/>
        </p:nvSpPr>
        <p:spPr>
          <a:xfrm>
            <a:off x="838200" y="1298448"/>
            <a:ext cx="8400313" cy="3693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Revenue &amp; Business Growth</a:t>
            </a:r>
          </a:p>
          <a:p>
            <a:endParaRPr dirty="0"/>
          </a:p>
          <a:p>
            <a:r>
              <a:rPr dirty="0"/>
              <a:t>Target Buyers: Fashion, D2C, Beauty Brands</a:t>
            </a:r>
          </a:p>
          <a:p>
            <a:endParaRPr lang="en-US" dirty="0"/>
          </a:p>
          <a:p>
            <a:endParaRPr dirty="0"/>
          </a:p>
          <a:p>
            <a:r>
              <a:rPr dirty="0"/>
              <a:t>Scalability</a:t>
            </a:r>
          </a:p>
          <a:p>
            <a:r>
              <a:rPr dirty="0"/>
              <a:t>• SaaS multi-tenant model</a:t>
            </a:r>
          </a:p>
          <a:p>
            <a:r>
              <a:rPr dirty="0"/>
              <a:t>• Industry-agnostic AI models</a:t>
            </a:r>
          </a:p>
          <a:p>
            <a:r>
              <a:rPr dirty="0"/>
              <a:t>• Expansion into Retail, </a:t>
            </a:r>
            <a:r>
              <a:rPr lang="en-US" dirty="0"/>
              <a:t>Saas, </a:t>
            </a:r>
            <a:r>
              <a:rPr dirty="0"/>
              <a:t>Telecom, Banking</a:t>
            </a:r>
          </a:p>
          <a:p>
            <a:endParaRPr lang="en-US" dirty="0"/>
          </a:p>
          <a:p>
            <a:endParaRPr dirty="0"/>
          </a:p>
          <a:p>
            <a:r>
              <a:rPr dirty="0"/>
              <a:t>Commercial Impact</a:t>
            </a:r>
          </a:p>
          <a:p>
            <a:r>
              <a:rPr lang="en-US" dirty="0"/>
              <a:t>Assumption - </a:t>
            </a:r>
            <a:r>
              <a:rPr dirty="0"/>
              <a:t>10% churn reduction for a $20M retailer protects ~$600K annual revenue.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</TotalTime>
  <Words>450</Words>
  <Application>Microsoft Office PowerPoint</Application>
  <PresentationFormat>Widescreen</PresentationFormat>
  <Paragraphs>89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EXL Hackathon Participant Template</dc:title>
  <dc:subject>PptxGenJS Presentation</dc:subject>
  <dc:creator>Anusha Vennu</dc:creator>
  <cp:lastModifiedBy>Anusha Vennu</cp:lastModifiedBy>
  <cp:revision>12</cp:revision>
  <dcterms:created xsi:type="dcterms:W3CDTF">2026-08-17T14:06:18Z</dcterms:created>
  <dcterms:modified xsi:type="dcterms:W3CDTF">2026-08-18T09:04:27Z</dcterms:modified>
</cp:coreProperties>
</file>