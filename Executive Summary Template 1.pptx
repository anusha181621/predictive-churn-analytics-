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14747408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92" userDrawn="1">
          <p15:clr>
            <a:srgbClr val="A4A3A4"/>
          </p15:clr>
        </p15:guide>
        <p15:guide id="7" pos="288" userDrawn="1">
          <p15:clr>
            <a:srgbClr val="A4A3A4"/>
          </p15:clr>
        </p15:guide>
        <p15:guide id="8" pos="216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4E0B"/>
    <a:srgbClr val="004EFF"/>
    <a:srgbClr val="E5EDFF"/>
    <a:srgbClr val="C0D2FF"/>
    <a:srgbClr val="83A8FF"/>
    <a:srgbClr val="407AFF"/>
    <a:srgbClr val="000000"/>
    <a:srgbClr val="424242"/>
    <a:srgbClr val="FF40FF"/>
    <a:srgbClr val="FFB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3792" autoAdjust="0"/>
  </p:normalViewPr>
  <p:slideViewPr>
    <p:cSldViewPr snapToGrid="0" snapToObjects="1">
      <p:cViewPr varScale="1">
        <p:scale>
          <a:sx n="92" d="100"/>
          <a:sy n="92" d="100"/>
        </p:scale>
        <p:origin x="259" y="82"/>
      </p:cViewPr>
      <p:guideLst>
        <p:guide orient="horz" pos="4128"/>
        <p:guide pos="3840"/>
        <p:guide pos="7392"/>
        <p:guide pos="288"/>
        <p:guide pos="2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306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ak Chopra" userId="ae75b830-3825-4053-b001-31c1e484de6e" providerId="ADAL" clId="{07E23E91-0C82-4FE9-B4F0-00D6CE322762}"/>
    <pc:docChg chg="modSld">
      <pc:chgData name="Vinayak Chopra" userId="ae75b830-3825-4053-b001-31c1e484de6e" providerId="ADAL" clId="{07E23E91-0C82-4FE9-B4F0-00D6CE322762}" dt="2026-08-12T13:42:36.324" v="19" actId="20577"/>
      <pc:docMkLst>
        <pc:docMk/>
      </pc:docMkLst>
      <pc:sldChg chg="modSp mod">
        <pc:chgData name="Vinayak Chopra" userId="ae75b830-3825-4053-b001-31c1e484de6e" providerId="ADAL" clId="{07E23E91-0C82-4FE9-B4F0-00D6CE322762}" dt="2026-08-12T13:42:36.324" v="19" actId="20577"/>
        <pc:sldMkLst>
          <pc:docMk/>
          <pc:sldMk cId="2900283342" sldId="2147474087"/>
        </pc:sldMkLst>
        <pc:spChg chg="mod">
          <ac:chgData name="Vinayak Chopra" userId="ae75b830-3825-4053-b001-31c1e484de6e" providerId="ADAL" clId="{07E23E91-0C82-4FE9-B4F0-00D6CE322762}" dt="2026-08-12T13:42:36.324" v="19" actId="20577"/>
          <ac:spMkLst>
            <pc:docMk/>
            <pc:sldMk cId="2900283342" sldId="2147474087"/>
            <ac:spMk id="4" creationId="{55A20902-D558-3616-7D89-C7810B01F28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561233-45DC-0946-2455-02C93F71AD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A0130-1F16-3354-5317-EAAD29FFB5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917C0-D42B-47D1-A861-215602EF8B7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E4F27-4BF2-3909-3638-05880831A7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71824-2436-611A-E077-B0450E3664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FE844-F6AC-4291-8AAC-EA3323234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82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D9FB6-F063-5E4C-8E15-DE2BAD5FDB9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41F17-4160-ED44-996C-2E44614D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7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55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47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16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34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446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65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975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2087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2934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65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90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4595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4141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14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992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3004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915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923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75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712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884971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801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665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1596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6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3797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4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66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639860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767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©2024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0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61" r:id="rId3"/>
    <p:sldLayoutId id="2147483675" r:id="rId4"/>
    <p:sldLayoutId id="2147483677" r:id="rId5"/>
    <p:sldLayoutId id="2147483727" r:id="rId6"/>
    <p:sldLayoutId id="2147483678" r:id="rId7"/>
    <p:sldLayoutId id="2147483681" r:id="rId8"/>
    <p:sldLayoutId id="2147483728" r:id="rId9"/>
    <p:sldLayoutId id="2147483685" r:id="rId10"/>
    <p:sldLayoutId id="2147483729" r:id="rId11"/>
    <p:sldLayoutId id="2147483717" r:id="rId12"/>
    <p:sldLayoutId id="2147483731" r:id="rId13"/>
    <p:sldLayoutId id="2147483719" r:id="rId14"/>
    <p:sldLayoutId id="2147483733" r:id="rId15"/>
    <p:sldLayoutId id="2147483734" r:id="rId16"/>
    <p:sldLayoutId id="2147483735" r:id="rId17"/>
    <p:sldLayoutId id="2147483689" r:id="rId18"/>
    <p:sldLayoutId id="2147483736" r:id="rId19"/>
    <p:sldLayoutId id="2147483737" r:id="rId20"/>
    <p:sldLayoutId id="2147483738" r:id="rId21"/>
    <p:sldLayoutId id="2147483739" r:id="rId22"/>
    <p:sldLayoutId id="2147483701" r:id="rId23"/>
    <p:sldLayoutId id="2147483699" r:id="rId24"/>
    <p:sldLayoutId id="2147483741" r:id="rId25"/>
    <p:sldLayoutId id="2147483705" r:id="rId26"/>
    <p:sldLayoutId id="2147483708" r:id="rId27"/>
    <p:sldLayoutId id="2147483709" r:id="rId28"/>
    <p:sldLayoutId id="2147483710" r:id="rId29"/>
    <p:sldLayoutId id="2147483742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392" userDrawn="1">
          <p15:clr>
            <a:srgbClr val="F26B43"/>
          </p15:clr>
        </p15:guide>
        <p15:guide id="5" orient="horz" pos="4128" userDrawn="1">
          <p15:clr>
            <a:srgbClr val="F26B43"/>
          </p15:clr>
        </p15:guide>
        <p15:guide id="6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BFE8-6D58-5590-A1E7-A2795581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17B1F9E-08E9-7B40-0BA7-4C99689B9AFB}"/>
              </a:ext>
            </a:extLst>
          </p:cNvPr>
          <p:cNvSpPr/>
          <p:nvPr/>
        </p:nvSpPr>
        <p:spPr>
          <a:xfrm>
            <a:off x="396240" y="708024"/>
            <a:ext cx="11490960" cy="5621655"/>
          </a:xfrm>
          <a:prstGeom prst="roundRect">
            <a:avLst>
              <a:gd name="adj" fmla="val 271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A20902-D558-3616-7D89-C7810B01F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4925"/>
            <a:ext cx="11277600" cy="673100"/>
          </a:xfrm>
        </p:spPr>
        <p:txBody>
          <a:bodyPr anchor="ctr">
            <a:normAutofit/>
          </a:bodyPr>
          <a:lstStyle/>
          <a:p>
            <a:pPr>
              <a:buClr>
                <a:schemeClr val="tx2"/>
              </a:buClr>
            </a:pPr>
            <a:r>
              <a:rPr lang="en-US" sz="3200" dirty="0"/>
              <a:t>Idea Title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568F24-1340-890B-283C-18D9094E11AA}"/>
              </a:ext>
            </a:extLst>
          </p:cNvPr>
          <p:cNvSpPr/>
          <p:nvPr/>
        </p:nvSpPr>
        <p:spPr>
          <a:xfrm>
            <a:off x="457200" y="1412241"/>
            <a:ext cx="2054506" cy="208387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E90E587-E904-18F9-76DC-B7FEDB0143D7}"/>
              </a:ext>
            </a:extLst>
          </p:cNvPr>
          <p:cNvSpPr/>
          <p:nvPr/>
        </p:nvSpPr>
        <p:spPr>
          <a:xfrm>
            <a:off x="457200" y="1307465"/>
            <a:ext cx="2158678" cy="26416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Industry Context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40DAD7-71FF-D89E-C436-22B727959023}"/>
              </a:ext>
            </a:extLst>
          </p:cNvPr>
          <p:cNvSpPr/>
          <p:nvPr/>
        </p:nvSpPr>
        <p:spPr>
          <a:xfrm>
            <a:off x="5171441" y="1412240"/>
            <a:ext cx="6664956" cy="208387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2FE74FDC-8658-AAF2-AF77-E20A1D6844FE}"/>
              </a:ext>
            </a:extLst>
          </p:cNvPr>
          <p:cNvSpPr/>
          <p:nvPr/>
        </p:nvSpPr>
        <p:spPr>
          <a:xfrm>
            <a:off x="5171441" y="1297305"/>
            <a:ext cx="6664956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Functional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7D2455-202B-5BC9-D097-90CE3CD4E61D}"/>
              </a:ext>
            </a:extLst>
          </p:cNvPr>
          <p:cNvSpPr/>
          <p:nvPr/>
        </p:nvSpPr>
        <p:spPr>
          <a:xfrm>
            <a:off x="457200" y="3781425"/>
            <a:ext cx="5638800" cy="24893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BFC4D114-2BF9-7924-89C0-1CC7A9C148CE}"/>
              </a:ext>
            </a:extLst>
          </p:cNvPr>
          <p:cNvSpPr/>
          <p:nvPr/>
        </p:nvSpPr>
        <p:spPr>
          <a:xfrm>
            <a:off x="457200" y="3623945"/>
            <a:ext cx="563880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Technological Highlights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171A88-D920-B434-5E26-372F07F2B9BC}"/>
              </a:ext>
            </a:extLst>
          </p:cNvPr>
          <p:cNvSpPr/>
          <p:nvPr/>
        </p:nvSpPr>
        <p:spPr>
          <a:xfrm>
            <a:off x="6187440" y="3781425"/>
            <a:ext cx="5638800" cy="24893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3DC75C66-12C8-AFD3-EDE1-0F23F1D280D0}"/>
              </a:ext>
            </a:extLst>
          </p:cNvPr>
          <p:cNvSpPr/>
          <p:nvPr/>
        </p:nvSpPr>
        <p:spPr>
          <a:xfrm>
            <a:off x="6187440" y="3623945"/>
            <a:ext cx="563880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Business Impact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9F0FD8-FB77-46DF-CFA2-83ED823E713E}"/>
              </a:ext>
            </a:extLst>
          </p:cNvPr>
          <p:cNvSpPr txBox="1"/>
          <p:nvPr/>
        </p:nvSpPr>
        <p:spPr>
          <a:xfrm>
            <a:off x="457200" y="1584960"/>
            <a:ext cx="2054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Describe the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industry related trends, changes</a:t>
            </a:r>
          </a:p>
          <a:p>
            <a:endParaRPr lang="en-US" sz="120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/>
              <a:t>What is its potential industry use case? Please specify industry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1A7B6D-0398-0FE8-CDD1-599D469B52B2}"/>
              </a:ext>
            </a:extLst>
          </p:cNvPr>
          <p:cNvSpPr/>
          <p:nvPr/>
        </p:nvSpPr>
        <p:spPr>
          <a:xfrm>
            <a:off x="2814320" y="1412240"/>
            <a:ext cx="2306320" cy="208680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6D2A01FF-BF42-9E31-AAC9-F28CD4D6A924}"/>
              </a:ext>
            </a:extLst>
          </p:cNvPr>
          <p:cNvSpPr/>
          <p:nvPr/>
        </p:nvSpPr>
        <p:spPr>
          <a:xfrm>
            <a:off x="2814320" y="1307465"/>
            <a:ext cx="230632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Client’s business problems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90F0C8-F93E-B121-BC3F-E8A586A3B1F6}"/>
              </a:ext>
            </a:extLst>
          </p:cNvPr>
          <p:cNvSpPr txBox="1"/>
          <p:nvPr/>
        </p:nvSpPr>
        <p:spPr>
          <a:xfrm>
            <a:off x="2824480" y="1624975"/>
            <a:ext cx="222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Specify the needs of the clients or the problems they are currently facing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2916F6-A4BF-2416-AF79-0554EA5D6206}"/>
              </a:ext>
            </a:extLst>
          </p:cNvPr>
          <p:cNvSpPr txBox="1"/>
          <p:nvPr/>
        </p:nvSpPr>
        <p:spPr>
          <a:xfrm>
            <a:off x="5182989" y="1624975"/>
            <a:ext cx="665410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The Solution: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How do you imagine you could solve the problem ? what technology or resources you will leverage to solve the problem in a new and innovative way. </a:t>
            </a:r>
          </a:p>
          <a:p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How it works: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How does your solution target and solve the problem at hand. Describe the flow of your solution. How will you leverage data &amp; AI?</a:t>
            </a:r>
          </a:p>
          <a:p>
            <a:endParaRPr lang="en-US" sz="120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/>
              <a:t>How does your idea fit into a sales context for EXL? How can it be leveraged by our sales or growth teams?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0D16CA-572C-744B-8AAF-DBDEF574D554}"/>
              </a:ext>
            </a:extLst>
          </p:cNvPr>
          <p:cNvSpPr txBox="1"/>
          <p:nvPr/>
        </p:nvSpPr>
        <p:spPr>
          <a:xfrm>
            <a:off x="477521" y="3957321"/>
            <a:ext cx="56387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Core Technologies used –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 AI/ML models, cloud platforms, data analytics, automation tools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Innovation factor – how the technology introduces something new, smarter, or more efficient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calability</a:t>
            </a:r>
            <a:r>
              <a:rPr lang="en-US" sz="1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– ability of the technology to handle growth and larger workloads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Integration – how well it connects with the existing systems, tools or platforms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C384A-1D7A-A3D4-2B36-CF15B9DFAD37}"/>
              </a:ext>
            </a:extLst>
          </p:cNvPr>
          <p:cNvSpPr txBox="1"/>
          <p:nvPr/>
        </p:nvSpPr>
        <p:spPr>
          <a:xfrm>
            <a:off x="6197598" y="3964503"/>
            <a:ext cx="5638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Revenue Streams (if applicable): </a:t>
            </a:r>
            <a:r>
              <a:rPr lang="en-US" sz="1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Describe your revenue steams in detail.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Customer/Stakeholder Value: </a:t>
            </a:r>
            <a:r>
              <a:rPr lang="en-US" sz="1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Describe what the value of your solution to the customer would be and how it would be perceived by them e.g. convenience, reliability, customization, easier to use etc.</a:t>
            </a:r>
          </a:p>
          <a:p>
            <a:endParaRPr lang="en-US" sz="120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Potential Impact: </a:t>
            </a:r>
            <a:r>
              <a:rPr lang="en-US" sz="1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Estimate the impact your idea could have once implemented.  This may be potential revenue numbers, cost savings numbers, efficiency gain % and other relevant data. </a:t>
            </a:r>
          </a:p>
          <a:p>
            <a:endParaRPr lang="en-US" sz="120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Cost Structure: (if applicable): </a:t>
            </a:r>
            <a:r>
              <a:rPr lang="en-US" sz="1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How will the solution be priced and what is the budget to implement the solution at scale. </a:t>
            </a:r>
          </a:p>
        </p:txBody>
      </p:sp>
    </p:spTree>
    <p:extLst>
      <p:ext uri="{BB962C8B-B14F-4D97-AF65-F5344CB8AC3E}">
        <p14:creationId xmlns:p14="http://schemas.microsoft.com/office/powerpoint/2010/main" val="290028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3" id="{75DB2D68-EB8A-4D47-9097-25EC9E13C876}" vid="{0310C97A-7711-40A4-A3F2-58B78CFBEC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</Template>
  <TotalTime>1585</TotalTime>
  <Words>301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System Font Regular</vt:lpstr>
      <vt:lpstr>Office Theme</vt:lpstr>
      <vt:lpstr>Idea Title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 Sprint</dc:title>
  <dc:creator>Grace Singh</dc:creator>
  <cp:lastModifiedBy>Vinayak Chopra</cp:lastModifiedBy>
  <cp:revision>31</cp:revision>
  <dcterms:created xsi:type="dcterms:W3CDTF">2024-06-06T10:38:18Z</dcterms:created>
  <dcterms:modified xsi:type="dcterms:W3CDTF">2026-08-12T13:42:41Z</dcterms:modified>
</cp:coreProperties>
</file>