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D8ED70-BFFB-4D98-9196-9D20B17EDB9D}" v="8" dt="2026-07-31T16:05:57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First slide requested to follow the hackathon reference-image style provided by the user.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660196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ExlService Holdings, Inc. All rights reserved.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73968" y="6428232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d2969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2B">
              <a:alpha val="87000"/>
            </a:srgbClr>
          </a:solidFill>
          <a:ln w="12700">
            <a:solidFill>
              <a:srgbClr val="001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75488" y="438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75488" y="114300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502920" y="2011680"/>
            <a:ext cx="822960" cy="0"/>
          </a:xfrm>
          <a:prstGeom prst="line">
            <a:avLst/>
          </a:prstGeom>
          <a:noFill/>
          <a:ln w="279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BOLD SOLUTIONS.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2587752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REAL-WORLD IMPACT.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58368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02336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1453896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029968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773936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2825496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328416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072384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4123944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892040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636008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566928" y="39776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name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920240" y="4078224"/>
            <a:ext cx="3401568" cy="0"/>
          </a:xfrm>
          <a:prstGeom prst="line">
            <a:avLst/>
          </a:prstGeom>
          <a:noFill/>
          <a:ln w="1143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1975104" y="3941064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Hackathon — Dragon's Den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566928" y="449884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name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920240" y="4599432"/>
            <a:ext cx="3401568" cy="0"/>
          </a:xfrm>
          <a:prstGeom prst="line">
            <a:avLst/>
          </a:prstGeom>
          <a:noFill/>
          <a:ln w="1143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975104" y="4462272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Churn Analytics for Fashion Retail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566928" y="504748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481328" y="5138928"/>
            <a:ext cx="233172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1527048" y="501091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team name]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566928" y="553212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691640" y="5623560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1691640" y="5907024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1691640" y="6190488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1737360" y="5495544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participant names and roles]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7973568" y="5522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Idea. Build. Scale.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8549640" y="5879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TOMORROW,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942832" y="61264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Customer Focus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define the business problem and show a deep understanding of the customer's journey and pain points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10464393" y="969264"/>
            <a:ext cx="1011326" cy="228600"/>
          </a:xfrm>
          <a:prstGeom prst="roundRect">
            <a:avLst>
              <a:gd name="adj" fmla="val 50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64393" y="969264"/>
            <a:ext cx="101132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Customer 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6070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005071"/>
                </a:solidFill>
                <a:latin typeface="Calibri"/>
              </a:rPr>
              <a:t>A European fashion brand: €2.13M of net sales, 1,000 customers, 6,726 orders, 2023-01-02 to 2025-12-31 — and nothing for a customer to cancel.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50" b="0">
                <a:solidFill>
                  <a:srgbClr val="484848"/>
                </a:solidFill>
                <a:latin typeface="Calibri"/>
              </a:rPr>
              <a:t>Churn in retail is silent. Nobody gives notice; they stop coming back, and the only evidence is an absence — a gap between orders that quietly grows past that customer's own normal. By the time a monthly report shows the hole, the customer has been gone two seasons and the cheapest moment to act is behind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938528"/>
            <a:ext cx="2500884" cy="822960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1938528"/>
            <a:ext cx="45720" cy="82296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2020824"/>
            <a:ext cx="21991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900" b="1">
                <a:solidFill>
                  <a:srgbClr val="FB4D0A"/>
                </a:solidFill>
                <a:latin typeface="Calibri"/>
              </a:rPr>
              <a:t>€88,639</a:t>
            </a:r>
          </a:p>
          <a:p>
            <a:pPr algn="l">
              <a:lnSpc>
                <a:spcPct val="106000"/>
              </a:lnSpc>
              <a:spcBef>
                <a:spcPts val="250"/>
              </a:spcBef>
            </a:pPr>
            <a:r>
              <a:rPr sz="850" b="1">
                <a:solidFill>
                  <a:srgbClr val="005071"/>
                </a:solidFill>
                <a:latin typeface="Calibri"/>
              </a:rPr>
              <a:t>Revenue at risk, next 90 days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30.3% of the €293K expected future 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70732" y="1938528"/>
            <a:ext cx="2500884" cy="822960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70732" y="1938528"/>
            <a:ext cx="45720" cy="82296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4468" y="2020824"/>
            <a:ext cx="21991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900" b="1">
                <a:solidFill>
                  <a:srgbClr val="FB4D0A"/>
                </a:solidFill>
                <a:latin typeface="Calibri"/>
              </a:rPr>
              <a:t>66.1%</a:t>
            </a:r>
          </a:p>
          <a:p>
            <a:pPr algn="l">
              <a:lnSpc>
                <a:spcPct val="106000"/>
              </a:lnSpc>
              <a:spcBef>
                <a:spcPts val="250"/>
              </a:spcBef>
            </a:pPr>
            <a:r>
              <a:rPr sz="850" b="1">
                <a:solidFill>
                  <a:srgbClr val="005071"/>
                </a:solidFill>
                <a:latin typeface="Calibri"/>
              </a:rPr>
              <a:t>Lapse within 90 days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Measured, held-out test period, n=2,694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4" y="1938528"/>
            <a:ext cx="2500884" cy="822960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938528"/>
            <a:ext cx="45720" cy="82296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020824"/>
            <a:ext cx="21991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900" b="1">
                <a:solidFill>
                  <a:srgbClr val="FB4D0A"/>
                </a:solidFill>
                <a:latin typeface="Calibri"/>
              </a:rPr>
              <a:t>591</a:t>
            </a:r>
          </a:p>
          <a:p>
            <a:pPr algn="l">
              <a:lnSpc>
                <a:spcPct val="106000"/>
              </a:lnSpc>
              <a:spcBef>
                <a:spcPts val="250"/>
              </a:spcBef>
            </a:pPr>
            <a:r>
              <a:rPr sz="850" b="1">
                <a:solidFill>
                  <a:srgbClr val="005071"/>
                </a:solidFill>
                <a:latin typeface="Calibri"/>
              </a:rPr>
              <a:t>Customers already drifting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At risk, declining or dormant at 2025-12-31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4836" y="1938528"/>
            <a:ext cx="2500884" cy="822960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4836" y="1938528"/>
            <a:ext cx="45720" cy="82296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8572" y="2020824"/>
            <a:ext cx="21991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900" b="1">
                <a:solidFill>
                  <a:srgbClr val="FB4D0A"/>
                </a:solidFill>
                <a:latin typeface="Calibri"/>
              </a:rPr>
              <a:t>277</a:t>
            </a:r>
          </a:p>
          <a:p>
            <a:pPr algn="l">
              <a:lnSpc>
                <a:spcPct val="106000"/>
              </a:lnSpc>
              <a:spcBef>
                <a:spcPts val="250"/>
              </a:spcBef>
            </a:pPr>
            <a:r>
              <a:rPr sz="850" b="1">
                <a:solidFill>
                  <a:srgbClr val="005071"/>
                </a:solidFill>
                <a:latin typeface="Calibri"/>
              </a:rPr>
              <a:t>One-and-done buyers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Of 1,000 — never returned after order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871216"/>
            <a:ext cx="5166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THE JOURNEY, AND WHERE IT BREAKS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54096"/>
            <a:ext cx="5166360" cy="7315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4892" y="3163824"/>
            <a:ext cx="7315" cy="170078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145536"/>
            <a:ext cx="164592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New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8% of the book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40" y="3223717"/>
            <a:ext cx="590586" cy="133197"/>
          </a:xfrm>
          <a:prstGeom prst="roundRect">
            <a:avLst>
              <a:gd name="adj" fmla="val 22000"/>
            </a:avLst>
          </a:prstGeom>
          <a:solidFill>
            <a:srgbClr val="2E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69778" y="3145536"/>
            <a:ext cx="566928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435096"/>
            <a:ext cx="164592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Active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32% of the book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06040" y="3513277"/>
            <a:ext cx="2385060" cy="133197"/>
          </a:xfrm>
          <a:prstGeom prst="roundRect">
            <a:avLst>
              <a:gd name="adj" fmla="val 22000"/>
            </a:avLst>
          </a:prstGeom>
          <a:solidFill>
            <a:srgbClr val="2E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64252" y="3435096"/>
            <a:ext cx="566928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315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724656"/>
            <a:ext cx="164592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At Risk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10% of the book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06040" y="3802837"/>
            <a:ext cx="734447" cy="133197"/>
          </a:xfrm>
          <a:prstGeom prst="roundRect">
            <a:avLst>
              <a:gd name="adj" fmla="val 22000"/>
            </a:avLst>
          </a:prstGeom>
          <a:solidFill>
            <a:srgbClr val="2E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3639" y="3724656"/>
            <a:ext cx="566928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014215"/>
            <a:ext cx="164592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Declining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12% of the book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06040" y="4092397"/>
            <a:ext cx="878307" cy="133197"/>
          </a:xfrm>
          <a:prstGeom prst="roundRect">
            <a:avLst>
              <a:gd name="adj" fmla="val 22000"/>
            </a:avLst>
          </a:prstGeom>
          <a:solidFill>
            <a:srgbClr val="2E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57499" y="4014215"/>
            <a:ext cx="566928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116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303776"/>
            <a:ext cx="164592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Dormant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38% of the book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06040" y="4381957"/>
            <a:ext cx="2862072" cy="133197"/>
          </a:xfrm>
          <a:prstGeom prst="roundRect">
            <a:avLst>
              <a:gd name="adj" fmla="val 22000"/>
            </a:avLst>
          </a:prstGeom>
          <a:solidFill>
            <a:srgbClr val="2E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41264" y="4303776"/>
            <a:ext cx="566928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378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593336"/>
            <a:ext cx="1645920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Lost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2% of the book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06040" y="4671517"/>
            <a:ext cx="121145" cy="133197"/>
          </a:xfrm>
          <a:prstGeom prst="roundRect">
            <a:avLst>
              <a:gd name="adj" fmla="val 22000"/>
            </a:avLst>
          </a:prstGeom>
          <a:solidFill>
            <a:srgbClr val="2E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00337" y="4593336"/>
            <a:ext cx="566928" cy="289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9377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0">
                <a:solidFill>
                  <a:srgbClr val="484848"/>
                </a:solidFill>
                <a:latin typeface="Calibri"/>
              </a:rPr>
              <a:t>Lifecycle stage at the prediction date. This is not a trickle at the end of a funnel: the largest stage is the one the brand has already stopped talking to.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2871216"/>
            <a:ext cx="5166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WHERE THE EXPOSURE ACTUALLY SITS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3054096"/>
            <a:ext cx="5166360" cy="7315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25612" y="3163824"/>
            <a:ext cx="7315" cy="1133856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145536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Low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275 customers · avg churn 22%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66760" y="3224540"/>
            <a:ext cx="1310427" cy="134599"/>
          </a:xfrm>
          <a:prstGeom prst="roundRect">
            <a:avLst>
              <a:gd name="adj" fmla="val 22000"/>
            </a:avLst>
          </a:prstGeom>
          <a:solidFill>
            <a:srgbClr val="A9C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50339" y="3145536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€18,914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3438144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Medium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382 customers · avg churn 61%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66760" y="3517148"/>
            <a:ext cx="2240280" cy="134599"/>
          </a:xfrm>
          <a:prstGeom prst="roundRect">
            <a:avLst>
              <a:gd name="adj" fmla="val 22000"/>
            </a:avLst>
          </a:prstGeom>
          <a:solidFill>
            <a:srgbClr val="6BA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80192" y="3438144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€32,336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373075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High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228 customers · avg churn 77%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66760" y="3809756"/>
            <a:ext cx="1977259" cy="134599"/>
          </a:xfrm>
          <a:prstGeom prst="roundRect">
            <a:avLst>
              <a:gd name="adj" fmla="val 22000"/>
            </a:avLst>
          </a:prstGeom>
          <a:solidFill>
            <a:srgbClr val="2E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17171" y="3730752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€28,539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4023360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Critical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115 customers · avg churn 95%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66760" y="4102364"/>
            <a:ext cx="613080" cy="134599"/>
          </a:xfrm>
          <a:prstGeom prst="roundRect">
            <a:avLst>
              <a:gd name="adj" fmla="val 22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52992" y="402336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€8,849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389120"/>
            <a:ext cx="5166360" cy="493776"/>
          </a:xfrm>
          <a:prstGeom prst="rect">
            <a:avLst/>
          </a:prstGeom>
          <a:solidFill>
            <a:srgbClr val="ECF3F7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0" y="4389120"/>
            <a:ext cx="45720" cy="49377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01384" y="4389120"/>
            <a:ext cx="48006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The reddest customers hold the least money. The 115 Critical customers average a 95% churn probability but carry only €8,849 — 10% of total exposure — because there is barely anything left to lose. Ranking by probability spends the budget on customers who have already gone.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49377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0">
                <a:solidFill>
                  <a:srgbClr val="484848"/>
                </a:solidFill>
                <a:latin typeface="Calibri"/>
              </a:rPr>
              <a:t>Revenue at risk = churn probability × expected future revenue, per customer, summed by band. Probability says who; only value says how much.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8680" y="5248656"/>
            <a:ext cx="3389376" cy="85953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68680" y="5248656"/>
            <a:ext cx="45720" cy="8595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1560" y="5349240"/>
            <a:ext cx="30693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1">
                <a:solidFill>
                  <a:srgbClr val="005071"/>
                </a:solidFill>
                <a:latin typeface="Calibri"/>
              </a:rPr>
              <a:t>There is no cancel button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The signal has to be constructed. Each customer's own cadence defines their normal, so one global rule mislabels half the book: a twice-a-year coat buyer and a monthly basics buyer cannot share a threshold.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77512" y="5248656"/>
            <a:ext cx="3389376" cy="85953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77512" y="5248656"/>
            <a:ext cx="45720" cy="8595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60392" y="5349240"/>
            <a:ext cx="30693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1">
                <a:solidFill>
                  <a:srgbClr val="005071"/>
                </a:solidFill>
                <a:latin typeface="Calibri"/>
              </a:rPr>
              <a:t>Discounts are sprayed, not aimed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Half of all order lines already carry a discount. One house-standard offer pays margin to full-price buyers who were never leaving, and under-offers the people who only ever move on promotion.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86344" y="5248656"/>
            <a:ext cx="3389376" cy="85953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086344" y="5248656"/>
            <a:ext cx="45720" cy="8595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69224" y="5349240"/>
            <a:ext cx="306933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1">
                <a:solidFill>
                  <a:srgbClr val="005071"/>
                </a:solidFill>
                <a:latin typeface="Calibri"/>
              </a:rPr>
              <a:t>Seasonality reads as churn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A customer who buys coats every October is not lapsing in June. Chasing them wastes the contact and teaches them to ignore the next email — the one that mattered.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Solution &amp; Innovation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practical and scalable framework with a clear step-by-step methodology for solving the challenge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10634472" y="969264"/>
            <a:ext cx="841247" cy="228600"/>
          </a:xfrm>
          <a:prstGeom prst="roundRect">
            <a:avLst>
              <a:gd name="adj" fmla="val 50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34472" y="969264"/>
            <a:ext cx="84124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Build 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005071"/>
                </a:solidFill>
                <a:latin typeface="Calibri"/>
              </a:rPr>
              <a:t>Five questions, one pipeline: who is likely to leave, why, how much revenue that puts at risk, what to do about it, and who to contact first.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50" b="0">
                <a:solidFill>
                  <a:srgbClr val="484848"/>
                </a:solidFill>
                <a:latin typeface="Calibri"/>
              </a:rPr>
              <a:t>Six stages, each a batch CLI reading the four CSV files as the single source of truth — 1,000 customers, 500 SKUs, 20,000 order lines, 5,048 returns. No database, no ETL, no API and no service to keep alive: copy the folder to a machine with the same CSVs and it runs. An architecture test enforces that rather than a paragraph promising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01952"/>
            <a:ext cx="10607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THE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01952"/>
            <a:ext cx="8229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0">
                <a:solidFill>
                  <a:srgbClr val="484848"/>
                </a:solidFill>
                <a:latin typeface="Calibri"/>
              </a:rPr>
              <a:t>Every stage writes an artefact the next one reads. The dashboard is the last box and only reads.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084832"/>
            <a:ext cx="10607040" cy="7315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2194560"/>
            <a:ext cx="1539240" cy="76809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2194560"/>
            <a:ext cx="1539240" cy="41148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249424"/>
            <a:ext cx="13563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750" b="1">
                <a:solidFill>
                  <a:srgbClr val="C93F06"/>
                </a:solidFill>
                <a:latin typeface="Calibri"/>
              </a:rPr>
              <a:t>LOAD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950" b="1">
                <a:solidFill>
                  <a:srgbClr val="005071"/>
                </a:solidFill>
                <a:latin typeface="Calibri"/>
              </a:rPr>
              <a:t>Four CSVs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26,548 rows, dtypes pinned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7920" y="2194560"/>
            <a:ext cx="2743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82240" y="2194560"/>
            <a:ext cx="1539240" cy="76809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82240" y="2194560"/>
            <a:ext cx="1539240" cy="41148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3680" y="2249424"/>
            <a:ext cx="13563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750" b="1">
                <a:solidFill>
                  <a:srgbClr val="C93F06"/>
                </a:solidFill>
                <a:latin typeface="Calibri"/>
              </a:rPr>
              <a:t>VALIDATE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950" b="1">
                <a:solidFill>
                  <a:srgbClr val="005071"/>
                </a:solidFill>
                <a:latin typeface="Calibri"/>
              </a:rPr>
              <a:t>Schema &amp; keys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101/101 checks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1480" y="2194560"/>
            <a:ext cx="2743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95800" y="2194560"/>
            <a:ext cx="1539240" cy="76809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95800" y="2194560"/>
            <a:ext cx="1539240" cy="41148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7240" y="2249424"/>
            <a:ext cx="13563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750" b="1">
                <a:solidFill>
                  <a:srgbClr val="C93F06"/>
                </a:solidFill>
                <a:latin typeface="Calibri"/>
              </a:rPr>
              <a:t>FEATURES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950" b="1">
                <a:solidFill>
                  <a:srgbClr val="005071"/>
                </a:solidFill>
                <a:latin typeface="Calibri"/>
              </a:rPr>
              <a:t>148 features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computed as of a 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194560"/>
            <a:ext cx="2743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194560"/>
            <a:ext cx="1539240" cy="76809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2194560"/>
            <a:ext cx="1539240" cy="41148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249424"/>
            <a:ext cx="13563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750" b="1">
                <a:solidFill>
                  <a:srgbClr val="C93F06"/>
                </a:solidFill>
                <a:latin typeface="Calibri"/>
              </a:rPr>
              <a:t>MODEL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950" b="1">
                <a:solidFill>
                  <a:srgbClr val="005071"/>
                </a:solidFill>
                <a:latin typeface="Calibri"/>
              </a:rPr>
              <a:t>RANDOM_FOREST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sigmoid-calibrated, 90d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8600" y="2194560"/>
            <a:ext cx="2743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2920" y="2194560"/>
            <a:ext cx="1539240" cy="76809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22920" y="2194560"/>
            <a:ext cx="1539240" cy="41148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4360" y="2249424"/>
            <a:ext cx="13563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750" b="1">
                <a:solidFill>
                  <a:srgbClr val="C93F06"/>
                </a:solidFill>
                <a:latin typeface="Calibri"/>
              </a:rPr>
              <a:t>EXPLAIN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950" b="1">
                <a:solidFill>
                  <a:srgbClr val="005071"/>
                </a:solidFill>
                <a:latin typeface="Calibri"/>
              </a:rPr>
              <a:t>SHAP per customer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in plain English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2160" y="2194560"/>
            <a:ext cx="2743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36480" y="2194560"/>
            <a:ext cx="1539240" cy="76809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36480" y="2194560"/>
            <a:ext cx="1539240" cy="41148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27920" y="2249424"/>
            <a:ext cx="13563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750" b="1">
                <a:solidFill>
                  <a:srgbClr val="C93F06"/>
                </a:solidFill>
                <a:latin typeface="Calibri"/>
              </a:rPr>
              <a:t>ACT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950" b="1">
                <a:solidFill>
                  <a:srgbClr val="005071"/>
                </a:solidFill>
                <a:latin typeface="Calibri"/>
              </a:rPr>
              <a:t>13 segments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ROI-gated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145536"/>
            <a:ext cx="10607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WHAT IS ACTUALLY NOVEL HERE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3328416"/>
            <a:ext cx="10607040" cy="7315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8680" y="3419856"/>
            <a:ext cx="3377184" cy="1371600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8680" y="3419856"/>
            <a:ext cx="45720" cy="137160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3520440"/>
            <a:ext cx="3057144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005071"/>
                </a:solidFill>
                <a:latin typeface="Calibri"/>
              </a:rPr>
              <a:t>The as-of date is the leakage guard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Every feature is computed as of a prediction date and the label looks forward 90 days from it, so the model answers the question a business actually asks on a Monday morning.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Training spans 21 monthly as-of dates with a 2-month embargo before each evaluation period. A random split here leaks the future: it scores beautifully and is worthless.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3608" y="3419856"/>
            <a:ext cx="3377184" cy="1371600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83608" y="3419856"/>
            <a:ext cx="45720" cy="137160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6488" y="3520440"/>
            <a:ext cx="3057144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005071"/>
                </a:solidFill>
                <a:latin typeface="Calibri"/>
              </a:rPr>
              <a:t>A calibrated probability, not a ranking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Revenue at risk is denominated in euros, so P(churn) has to mean what it says — a raw ranking score cannot be multiplied by money.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Calibration is chosen out-of-fold on a held-out recent period: mean predicted 0.591 against 0.661 observed, a bias of -0.070 on data the model never saw.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98536" y="3419856"/>
            <a:ext cx="3377184" cy="1371600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98536" y="3419856"/>
            <a:ext cx="45720" cy="137160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81416" y="3520440"/>
            <a:ext cx="3057144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005071"/>
                </a:solidFill>
                <a:latin typeface="Calibri"/>
              </a:rPr>
              <a:t>Nothing about the action is hardcoded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11 actions, 78 SKUs, 17 offer depths and 601 distinct reasons across 1,000 customers — every field derived, none of it written by hand.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Offer depth is the depth that customer has responded to before; the SKU is the best seller in their category, excluding what they already own; the reason quotes their own numbers back at them.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4974336"/>
            <a:ext cx="10607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MEASURED ON A PERIOD THE MODEL NEVER SAW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4974336"/>
            <a:ext cx="8229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0">
                <a:solidFill>
                  <a:srgbClr val="484848"/>
                </a:solidFill>
                <a:latin typeface="Calibri"/>
              </a:rPr>
              <a:t>Test as-of 2025-07-31 · n=2,694 · base rate 66.1% · random_forest, sigmoid-calibrated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" y="5157216"/>
            <a:ext cx="10607040" cy="7315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68680" y="5248656"/>
            <a:ext cx="1615440" cy="85953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68680" y="5248656"/>
            <a:ext cx="45720" cy="8595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2415" y="5330952"/>
            <a:ext cx="131368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0.828</a:t>
            </a:r>
          </a:p>
          <a:p>
            <a:pPr algn="l">
              <a:lnSpc>
                <a:spcPct val="106000"/>
              </a:lnSpc>
              <a:spcBef>
                <a:spcPts val="250"/>
              </a:spcBef>
            </a:pPr>
            <a:r>
              <a:rPr sz="850" b="1">
                <a:solidFill>
                  <a:srgbClr val="005071"/>
                </a:solidFill>
                <a:latin typeface="Calibri"/>
              </a:rPr>
              <a:t>ROC-AUC, High Value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where the money is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67000" y="5248656"/>
            <a:ext cx="1615440" cy="85953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67000" y="5248656"/>
            <a:ext cx="45720" cy="8595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40736" y="5330952"/>
            <a:ext cx="131368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0.744</a:t>
            </a:r>
          </a:p>
          <a:p>
            <a:pPr algn="l">
              <a:lnSpc>
                <a:spcPct val="106000"/>
              </a:lnSpc>
              <a:spcBef>
                <a:spcPts val="250"/>
              </a:spcBef>
            </a:pPr>
            <a:r>
              <a:rPr sz="850" b="1">
                <a:solidFill>
                  <a:srgbClr val="005071"/>
                </a:solidFill>
                <a:latin typeface="Calibri"/>
              </a:rPr>
              <a:t>ROC-AUC, overall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ranking quality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65320" y="5248656"/>
            <a:ext cx="1615440" cy="85953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65320" y="5248656"/>
            <a:ext cx="45720" cy="8595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39056" y="5330952"/>
            <a:ext cx="131368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0.827</a:t>
            </a:r>
          </a:p>
          <a:p>
            <a:pPr algn="l">
              <a:lnSpc>
                <a:spcPct val="106000"/>
              </a:lnSpc>
              <a:spcBef>
                <a:spcPts val="250"/>
              </a:spcBef>
            </a:pPr>
            <a:r>
              <a:rPr sz="850" b="1">
                <a:solidFill>
                  <a:srgbClr val="005071"/>
                </a:solidFill>
                <a:latin typeface="Calibri"/>
              </a:rPr>
              <a:t>PR-AUC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beats the 0.835 floor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5248656"/>
            <a:ext cx="1615440" cy="85953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63640" y="5248656"/>
            <a:ext cx="45720" cy="8595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37376" y="5330952"/>
            <a:ext cx="131368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0.175</a:t>
            </a:r>
          </a:p>
          <a:p>
            <a:pPr algn="l">
              <a:lnSpc>
                <a:spcPct val="106000"/>
              </a:lnSpc>
              <a:spcBef>
                <a:spcPts val="250"/>
              </a:spcBef>
            </a:pPr>
            <a:r>
              <a:rPr sz="850" b="1">
                <a:solidFill>
                  <a:srgbClr val="005071"/>
                </a:solidFill>
                <a:latin typeface="Calibri"/>
              </a:rPr>
              <a:t>Brier score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ECE 0.101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61960" y="5248656"/>
            <a:ext cx="1615440" cy="85953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61960" y="5248656"/>
            <a:ext cx="45720" cy="8595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35695" y="5330952"/>
            <a:ext cx="131368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1.40×</a:t>
            </a:r>
          </a:p>
          <a:p>
            <a:pPr algn="l">
              <a:lnSpc>
                <a:spcPct val="106000"/>
              </a:lnSpc>
              <a:spcBef>
                <a:spcPts val="250"/>
              </a:spcBef>
            </a:pPr>
            <a:r>
              <a:rPr sz="850" b="1">
                <a:solidFill>
                  <a:srgbClr val="005071"/>
                </a:solidFill>
                <a:latin typeface="Calibri"/>
              </a:rPr>
              <a:t>Lift, top decile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against random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60280" y="5248656"/>
            <a:ext cx="1615440" cy="85953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60280" y="5248656"/>
            <a:ext cx="45720" cy="8595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34016" y="5330952"/>
            <a:ext cx="131368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94%</a:t>
            </a:r>
          </a:p>
          <a:p>
            <a:pPr algn="l">
              <a:lnSpc>
                <a:spcPct val="106000"/>
              </a:lnSpc>
              <a:spcBef>
                <a:spcPts val="250"/>
              </a:spcBef>
            </a:pPr>
            <a:r>
              <a:rPr sz="850" b="1">
                <a:solidFill>
                  <a:srgbClr val="005071"/>
                </a:solidFill>
                <a:latin typeface="Calibri"/>
              </a:rPr>
              <a:t>Top-decile precision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High Value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Out From Competitors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exactly what makes your solution unique and how it delivers better value than existing market options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10577779" y="969264"/>
            <a:ext cx="897940" cy="228600"/>
          </a:xfrm>
          <a:prstGeom prst="roundRect">
            <a:avLst>
              <a:gd name="adj" fmla="val 50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7779" y="969264"/>
            <a:ext cx="8979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Market 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005071"/>
                </a:solidFill>
                <a:latin typeface="Calibri"/>
              </a:rPr>
              <a:t>Most churn projects stop at a score and a bar chart of feature importances. The gap between a score and a decision is where this platform lives.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50" b="0">
                <a:solidFill>
                  <a:srgbClr val="484848"/>
                </a:solidFill>
                <a:latin typeface="Calibri"/>
              </a:rPr>
              <a:t>A churn score tells a marketing lead nothing they can spend against. Six things have to be true before a number becomes a contact list somebody will sign off — and every row below is a place where the conventional build stops short.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883664"/>
            <a:ext cx="10607040" cy="292608"/>
          </a:xfrm>
          <a:prstGeom prst="rect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1883664"/>
            <a:ext cx="14081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883664"/>
            <a:ext cx="34655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FFFFFF"/>
                </a:solidFill>
                <a:latin typeface="Calibri"/>
              </a:rPr>
              <a:t>The conventional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883664"/>
            <a:ext cx="50200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FFFFFF"/>
                </a:solidFill>
                <a:latin typeface="Calibri"/>
              </a:rPr>
              <a:t>This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176272"/>
            <a:ext cx="106070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176272"/>
            <a:ext cx="45720" cy="4023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2176272"/>
            <a:ext cx="1389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The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0904" y="2176272"/>
            <a:ext cx="344728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A churn score, uncalibrated. Useful for sorting; meaningless in euros.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176272"/>
            <a:ext cx="49469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A calibrated probability, so exposure is money: €88,639 at risk, attributable customer by customer and addable across a segment.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2578608"/>
            <a:ext cx="10607040" cy="40233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578608"/>
            <a:ext cx="45720" cy="4023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2578608"/>
            <a:ext cx="1389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Who to chase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0904" y="2578608"/>
            <a:ext cx="344728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The reddest customers first — which spends the budget where the least value is left.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2578608"/>
            <a:ext cx="49469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Revenue at risk, so a mid-probability high-value customer outranks a near-certain loss. The top decile by exposure carries 28% of the total.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2980944"/>
            <a:ext cx="106070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980944"/>
            <a:ext cx="45720" cy="4023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2980944"/>
            <a:ext cx="1389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The 'why'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0904" y="2980944"/>
            <a:ext cx="344728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One global feature-importance chart, shown to every customer alike.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2980944"/>
            <a:ext cx="49469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Per-customer SHAP in plain English, with direction of impact measured from the data rather than assumed — 601 distinct reasons for 1,000 customers.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383280"/>
            <a:ext cx="10607040" cy="40233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383280"/>
            <a:ext cx="45720" cy="4023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3" y="3383280"/>
            <a:ext cx="1389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The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60904" y="3383280"/>
            <a:ext cx="344728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A house-standard offer, mailed to everyone on the list.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3383280"/>
            <a:ext cx="49469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11 actions, 78 SKUs, 17 offer depths. Full-price buyers are structurally unreachable by a discount rule, and a negative-ROI action is overridden after the fact, so the reason still says what was proposed.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3785615"/>
            <a:ext cx="106070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785615"/>
            <a:ext cx="45720" cy="4023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3" y="3785615"/>
            <a:ext cx="1389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3785615"/>
            <a:ext cx="344728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A random train/test split, and a metric with nothing to compare it against.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9944" y="3785615"/>
            <a:ext cx="49469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A time-based split with a 2-month embargo, calibrated out-of-fold on a held-out period, and eight one-line heuristics scored every run as a floor the model has to clear (0.827 against 0.835).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4187952"/>
            <a:ext cx="10607040" cy="40233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187952"/>
            <a:ext cx="45720" cy="40233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3" y="4187952"/>
            <a:ext cx="13898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Honesty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187952"/>
            <a:ext cx="344728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Assumptions quietly folded into the ROI number.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9944" y="4187952"/>
            <a:ext cx="49469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Retention propensity cannot be learned without a control group, so the artefact names the column '(ASSUMED)' and every figure it touches is flagged on the page that shows it. Judges get the number and its warranty.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4700016"/>
            <a:ext cx="3377184" cy="140817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8680" y="4700016"/>
            <a:ext cx="45720" cy="140817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4800600"/>
            <a:ext cx="305714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005071"/>
                </a:solidFill>
                <a:latin typeface="Calibri"/>
              </a:rPr>
              <a:t>Simulate before you spend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The What-If page rebuilds the real retention layer and re-runs it, rather than rescaling the shipped columns. Raise the contact cost and customers drop out of the campaign entirely — no linear rescale reproduces that.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3608" y="4700016"/>
            <a:ext cx="3377184" cy="140817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83608" y="4700016"/>
            <a:ext cx="45720" cy="140817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6488" y="4800600"/>
            <a:ext cx="305714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005071"/>
                </a:solidFill>
                <a:latin typeface="Calibri"/>
              </a:rPr>
              <a:t>The architecture is a test, not a promise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'The CSVs are the database' is enforced: the four files are hashed, the pipeline runs, they are hashed again. No driver, orchestrator or web framework can be imported without a test failing. 473 tests in all.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98536" y="4700016"/>
            <a:ext cx="3377184" cy="140817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98536" y="4700016"/>
            <a:ext cx="45720" cy="1408176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1416" y="4800600"/>
            <a:ext cx="3057144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005071"/>
                </a:solidFill>
                <a:latin typeface="Calibri"/>
              </a:rPr>
              <a:t>Segments overlap, because customers do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558 of 1,000 customers carry more than one label (1.74 each on average). A high-return customer who is also high-value at risk needs both facts: one says act now, the other says be careful what you offer.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Business Growth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target buyer segments and prove the solution's potential for high scalability and market commercialization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10804550" y="969264"/>
            <a:ext cx="671169" cy="228600"/>
          </a:xfrm>
          <a:prstGeom prst="roundRect">
            <a:avLst>
              <a:gd name="adj" fmla="val 50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4550" y="969264"/>
            <a:ext cx="67116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GTM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005071"/>
                </a:solidFill>
                <a:latin typeface="Calibri"/>
              </a:rPr>
              <a:t>Same 1,000 customers, same four files — the difference is that every euro below is traceable to a customer ID, an action and a reason.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850" b="0">
                <a:solidFill>
                  <a:srgbClr val="484848"/>
                </a:solidFill>
                <a:latin typeface="Calibri"/>
              </a:rPr>
              <a:t>The chain runs from what the book is expected to be worth over the next 90 days down to the return on a single campaign. Only the last two steps depend on an assumption, and they are labelled rather than quoted as though they were measured.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83664"/>
            <a:ext cx="6446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FROM EXPOSURE TO RETURN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066544"/>
            <a:ext cx="6446520" cy="7315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22092" y="2176272"/>
            <a:ext cx="7315" cy="1115568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157984"/>
            <a:ext cx="21031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Expected future revenue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90 days, all 1,000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2235753"/>
            <a:ext cx="3383279" cy="132496"/>
          </a:xfrm>
          <a:prstGeom prst="roundRect">
            <a:avLst>
              <a:gd name="adj" fmla="val 22000"/>
            </a:avLst>
          </a:prstGeom>
          <a:solidFill>
            <a:srgbClr val="2E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157984"/>
            <a:ext cx="8686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€292,983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446020"/>
            <a:ext cx="21031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Revenue at risk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churn probability × expected revenue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2523789"/>
            <a:ext cx="1023571" cy="132496"/>
          </a:xfrm>
          <a:prstGeom prst="roundRect">
            <a:avLst>
              <a:gd name="adj" fmla="val 22000"/>
            </a:avLst>
          </a:prstGeom>
          <a:solidFill>
            <a:srgbClr val="2E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59963" y="2446020"/>
            <a:ext cx="8686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€88,639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734056"/>
            <a:ext cx="21031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Recoverable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at the assumed 25% base propensity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2811825"/>
            <a:ext cx="326068" cy="132496"/>
          </a:xfrm>
          <a:prstGeom prst="roundRect">
            <a:avLst>
              <a:gd name="adj" fmla="val 22000"/>
            </a:avLst>
          </a:prstGeom>
          <a:solidFill>
            <a:srgbClr val="2E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2460" y="2734056"/>
            <a:ext cx="8686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€28,237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022091"/>
            <a:ext cx="21031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Expected return</a:t>
            </a:r>
          </a:p>
          <a:p>
            <a:pPr algn="r">
              <a:lnSpc>
                <a:spcPct val="106000"/>
              </a:lnSpc>
              <a:spcBef>
                <a:spcPts val="1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from the 773 customers targeted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3099861"/>
            <a:ext cx="281533" cy="132496"/>
          </a:xfrm>
          <a:prstGeom prst="roundRect">
            <a:avLst>
              <a:gd name="adj" fmla="val 22000"/>
            </a:avLst>
          </a:prstGeom>
          <a:solidFill>
            <a:srgbClr val="2E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7925" y="3022091"/>
            <a:ext cx="8686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€24,380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157984"/>
            <a:ext cx="3886200" cy="1152144"/>
          </a:xfrm>
          <a:prstGeom prst="rect">
            <a:avLst/>
          </a:prstGeom>
          <a:solidFill>
            <a:srgbClr val="ECF3F7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2157984"/>
            <a:ext cx="45720" cy="1152144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9832" y="2157984"/>
            <a:ext cx="3502152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1">
                <a:solidFill>
                  <a:srgbClr val="FB4D0A"/>
                </a:solidFill>
                <a:latin typeface="Calibri"/>
              </a:rPr>
              <a:t>+382%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900" b="1">
                <a:solidFill>
                  <a:srgbClr val="005071"/>
                </a:solidFill>
                <a:latin typeface="Calibri"/>
              </a:rPr>
              <a:t>Expected ROI on one 90-day retention campaign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€24,380 expected return on €5,056 of contact and incentive cost, across 773 targeted customers — 227 are deliberately left alone. ASSUMPTION-dependent; see the last card.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438144"/>
            <a:ext cx="4663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WHERE TO SPEND FIRST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621024"/>
            <a:ext cx="4663440" cy="7315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" y="3712463"/>
            <a:ext cx="4663440" cy="219456"/>
          </a:xfrm>
          <a:prstGeom prst="rect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3712463"/>
            <a:ext cx="9509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3712463"/>
            <a:ext cx="8138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712463"/>
            <a:ext cx="10881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Revenue at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59" y="3712463"/>
            <a:ext cx="122529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Share of exposure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931920"/>
            <a:ext cx="46634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3931920"/>
            <a:ext cx="9509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Critical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3931920"/>
            <a:ext cx="8138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51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3931920"/>
            <a:ext cx="10881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€14,018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59" y="3931920"/>
            <a:ext cx="122529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16%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4151375"/>
            <a:ext cx="4663440" cy="21945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151375"/>
            <a:ext cx="9509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4151375"/>
            <a:ext cx="8138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4151375"/>
            <a:ext cx="10881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€18,443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59" y="4151375"/>
            <a:ext cx="122529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21%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370831"/>
            <a:ext cx="46634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370831"/>
            <a:ext cx="9509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4370831"/>
            <a:ext cx="8138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250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4370831"/>
            <a:ext cx="10881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€27,864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51959" y="4370831"/>
            <a:ext cx="122529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31%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590288"/>
            <a:ext cx="4663440" cy="219456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4590288"/>
            <a:ext cx="95097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4590288"/>
            <a:ext cx="8138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599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0" y="4590288"/>
            <a:ext cx="10881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€28,314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51959" y="4590288"/>
            <a:ext cx="122529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>
                <a:solidFill>
                  <a:srgbClr val="484848"/>
                </a:solidFill>
                <a:latin typeface="Calibri"/>
              </a:rPr>
              <a:t>32%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488289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750" b="0">
                <a:solidFill>
                  <a:srgbClr val="484848"/>
                </a:solidFill>
                <a:latin typeface="Calibri"/>
              </a:rPr>
              <a:t>Not contacted, by reason: 130 already engaged · 58 uneconomic once costed · 23 out of season · 16 beyond two buying cycles. 'Already engaged' and 'unrecoverable' need opposite follow-up, so they are never reported as one number.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3438144"/>
            <a:ext cx="5669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1">
                <a:solidFill>
                  <a:srgbClr val="005071"/>
                </a:solidFill>
                <a:latin typeface="Calibri"/>
              </a:rPr>
              <a:t>WHO BUYS THIS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06440" y="3621024"/>
            <a:ext cx="5669280" cy="7315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06440" y="3712463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Mid-market fashion &amp; apparel e-commerce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€10m–€200m of online revenue. They already have these four tables in a BI export; what they do not have is the data team to turn them into a contact list.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4114800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CRM and retention leads who own a contact budget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The buyer is whoever gets asked what the retention spend returned. This answers in euros, per customer, with the assumption labelled instead of buried.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06440" y="4517136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Agencies running retention for several brands</a:t>
            </a:r>
          </a:p>
          <a:p>
            <a:pPr algn="l">
              <a:lnSpc>
                <a:spcPct val="106000"/>
              </a:lnSpc>
              <a:spcBef>
                <a:spcPts val="150"/>
              </a:spcBef>
            </a:pPr>
            <a:r>
              <a:rPr sz="750" b="0">
                <a:solidFill>
                  <a:srgbClr val="484848"/>
                </a:solidFill>
                <a:latin typeface="Calibri"/>
              </a:rPr>
              <a:t>One folder per client, identical code, no per-client integration project — which is what usually kills a retention pilot before it can prove anything.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" y="5120640"/>
            <a:ext cx="3377184" cy="987552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68680" y="5120640"/>
            <a:ext cx="45720" cy="987552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1560" y="5221224"/>
            <a:ext cx="305714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005071"/>
                </a:solidFill>
                <a:latin typeface="Calibri"/>
              </a:rPr>
              <a:t>Commercialisation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Sold as a per-brand instance: drop four CSVs in, run five commands, get eight dashboard pages. Priced per brand per month, with the pilot scoped as one campaign and one holdout.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3608" y="5120640"/>
            <a:ext cx="3377184" cy="987552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483608" y="5120640"/>
            <a:ext cx="45720" cy="987552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66488" y="5221224"/>
            <a:ext cx="305714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005071"/>
                </a:solidFill>
                <a:latin typeface="Calibri"/>
              </a:rPr>
              <a:t>Scale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26,548 rows today, read straight into Pandas. Every stage is a batch CLI that exits, so a monthly refresh is a cron line rather than a platform, and adding a brand adds a folder rather than a migration.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98536" y="5120640"/>
            <a:ext cx="3377184" cy="987552"/>
          </a:xfrm>
          <a:prstGeom prst="rect">
            <a:avLst/>
          </a:prstGeom>
          <a:solidFill>
            <a:srgbClr val="F5F9FB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098536" y="5120640"/>
            <a:ext cx="45720" cy="987552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81416" y="5221224"/>
            <a:ext cx="305714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005071"/>
                </a:solidFill>
                <a:latin typeface="Calibri"/>
              </a:rPr>
              <a:t>What we would need next — honestly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800" b="0">
                <a:solidFill>
                  <a:srgbClr val="484848"/>
                </a:solidFill>
                <a:latin typeface="Calibri"/>
              </a:rPr>
              <a:t>The 25% retention propensity is a planning placeholder: uplift needs a campaign log and an untreated control group, and this dataset has neither. One holdout campaign turns +382% from an estimate into a measurement — the first thing a pilot should buy.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303</Words>
  <Application>Microsoft Office PowerPoint</Application>
  <PresentationFormat>Widescreen</PresentationFormat>
  <Paragraphs>43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EXL Hackathon Participant Template</dc:title>
  <dc:subject>PptxGenJS Presentation</dc:subject>
  <dc:creator>Neha Kumari</dc:creator>
  <cp:lastModifiedBy>Abhinav Kadyan</cp:lastModifiedBy>
  <cp:revision>3</cp:revision>
  <dcterms:created xsi:type="dcterms:W3CDTF">2026-07-31T09:30:19Z</dcterms:created>
  <dcterms:modified xsi:type="dcterms:W3CDTF">2026-08-03T11:05:11Z</dcterms:modified>
</cp:coreProperties>
</file>